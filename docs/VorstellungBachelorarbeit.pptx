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2" r:id="rId8"/>
    <p:sldId id="263" r:id="rId9"/>
    <p:sldId id="267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1D41"/>
    <a:srgbClr val="B7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29"/>
    <p:restoredTop sz="94737"/>
  </p:normalViewPr>
  <p:slideViewPr>
    <p:cSldViewPr snapToGrid="0">
      <p:cViewPr varScale="1">
        <p:scale>
          <a:sx n="99" d="100"/>
          <a:sy n="99" d="100"/>
        </p:scale>
        <p:origin x="1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7A3A99-EA84-4529-82C0-71334762C60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EC6C0D-6036-4E5E-82EA-D915BC5B33CA}">
      <dgm:prSet/>
      <dgm:spPr/>
      <dgm:t>
        <a:bodyPr/>
        <a:lstStyle/>
        <a:p>
          <a:r>
            <a:rPr lang="de-DE"/>
            <a:t>Einsatz von LLMs zur vollständigen Schema-Abbildung unstrukturierter Daten</a:t>
          </a:r>
          <a:endParaRPr lang="en-US"/>
        </a:p>
      </dgm:t>
    </dgm:pt>
    <dgm:pt modelId="{0B76FF67-C9DD-4E90-958F-0E1E9F85505E}" type="parTrans" cxnId="{FCA0FEE6-1C08-4D47-A7C7-48C0DE7F9763}">
      <dgm:prSet/>
      <dgm:spPr/>
      <dgm:t>
        <a:bodyPr/>
        <a:lstStyle/>
        <a:p>
          <a:endParaRPr lang="en-US"/>
        </a:p>
      </dgm:t>
    </dgm:pt>
    <dgm:pt modelId="{6C6CD275-FB63-412B-BF7E-0682A6BDDA42}" type="sibTrans" cxnId="{FCA0FEE6-1C08-4D47-A7C7-48C0DE7F9763}">
      <dgm:prSet/>
      <dgm:spPr/>
      <dgm:t>
        <a:bodyPr/>
        <a:lstStyle/>
        <a:p>
          <a:endParaRPr lang="en-US"/>
        </a:p>
      </dgm:t>
    </dgm:pt>
    <dgm:pt modelId="{AE21D339-9A25-4730-BEBA-0BD53D55E56B}">
      <dgm:prSet/>
      <dgm:spPr/>
      <dgm:t>
        <a:bodyPr/>
        <a:lstStyle/>
        <a:p>
          <a:r>
            <a:rPr lang="de-DE"/>
            <a:t>Vergleich generativer und regelbasierter Extraktionsmethoden</a:t>
          </a:r>
          <a:endParaRPr lang="en-US"/>
        </a:p>
      </dgm:t>
    </dgm:pt>
    <dgm:pt modelId="{42504C59-465C-4770-8251-D9CDF28FBE68}" type="parTrans" cxnId="{7EB9E1D0-F25D-4023-AB6D-C82ED324A08B}">
      <dgm:prSet/>
      <dgm:spPr/>
      <dgm:t>
        <a:bodyPr/>
        <a:lstStyle/>
        <a:p>
          <a:endParaRPr lang="en-US"/>
        </a:p>
      </dgm:t>
    </dgm:pt>
    <dgm:pt modelId="{968774E8-AE9D-4C46-B496-20D998CAD26B}" type="sibTrans" cxnId="{7EB9E1D0-F25D-4023-AB6D-C82ED324A08B}">
      <dgm:prSet/>
      <dgm:spPr/>
      <dgm:t>
        <a:bodyPr/>
        <a:lstStyle/>
        <a:p>
          <a:endParaRPr lang="en-US"/>
        </a:p>
      </dgm:t>
    </dgm:pt>
    <dgm:pt modelId="{1B130F7D-1E34-4EFE-861C-9A3E5713557B}">
      <dgm:prSet/>
      <dgm:spPr/>
      <dgm:t>
        <a:bodyPr/>
        <a:lstStyle/>
        <a:p>
          <a:r>
            <a:rPr lang="de-DE"/>
            <a:t>Bewertung von LLMs hinsichtlich Strukturtreue und Datenqualität</a:t>
          </a:r>
          <a:endParaRPr lang="en-US"/>
        </a:p>
      </dgm:t>
    </dgm:pt>
    <dgm:pt modelId="{016A21F0-CF8D-4108-9411-233A140D628A}" type="parTrans" cxnId="{61934A57-BA99-4C40-B9C1-4090E2FE755E}">
      <dgm:prSet/>
      <dgm:spPr/>
      <dgm:t>
        <a:bodyPr/>
        <a:lstStyle/>
        <a:p>
          <a:endParaRPr lang="en-US"/>
        </a:p>
      </dgm:t>
    </dgm:pt>
    <dgm:pt modelId="{F9AD1D7C-FDDE-4691-83C1-20F042A14B8E}" type="sibTrans" cxnId="{61934A57-BA99-4C40-B9C1-4090E2FE755E}">
      <dgm:prSet/>
      <dgm:spPr/>
      <dgm:t>
        <a:bodyPr/>
        <a:lstStyle/>
        <a:p>
          <a:endParaRPr lang="en-US"/>
        </a:p>
      </dgm:t>
    </dgm:pt>
    <dgm:pt modelId="{01A0D90D-2ECA-4E64-B24D-64339E2AE541}">
      <dgm:prSet/>
      <dgm:spPr/>
      <dgm:t>
        <a:bodyPr/>
        <a:lstStyle/>
        <a:p>
          <a:r>
            <a:rPr lang="de-DE"/>
            <a:t>Erkenntnisse zur praktischen Integration in bestehende Datenpipelines</a:t>
          </a:r>
          <a:endParaRPr lang="en-US"/>
        </a:p>
      </dgm:t>
    </dgm:pt>
    <dgm:pt modelId="{1DA7495F-81CC-4C2E-9CAE-C7A79DF02C17}" type="parTrans" cxnId="{4AD716D2-A152-4A4D-B81A-36C228E6E37B}">
      <dgm:prSet/>
      <dgm:spPr/>
      <dgm:t>
        <a:bodyPr/>
        <a:lstStyle/>
        <a:p>
          <a:endParaRPr lang="en-US"/>
        </a:p>
      </dgm:t>
    </dgm:pt>
    <dgm:pt modelId="{8E984DD6-E2B4-4090-B8E8-43FE15B98D5C}" type="sibTrans" cxnId="{4AD716D2-A152-4A4D-B81A-36C228E6E37B}">
      <dgm:prSet/>
      <dgm:spPr/>
      <dgm:t>
        <a:bodyPr/>
        <a:lstStyle/>
        <a:p>
          <a:endParaRPr lang="en-US"/>
        </a:p>
      </dgm:t>
    </dgm:pt>
    <dgm:pt modelId="{F40107AB-30A1-2F44-A3C3-548A766BDC49}" type="pres">
      <dgm:prSet presAssocID="{727A3A99-EA84-4529-82C0-71334762C6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ED8B94E-ECBD-7E40-A478-5DAB06653F20}" type="pres">
      <dgm:prSet presAssocID="{45EC6C0D-6036-4E5E-82EA-D915BC5B33CA}" presName="hierRoot1" presStyleCnt="0"/>
      <dgm:spPr/>
    </dgm:pt>
    <dgm:pt modelId="{B12EDD7B-C558-A64A-9304-B884CD667465}" type="pres">
      <dgm:prSet presAssocID="{45EC6C0D-6036-4E5E-82EA-D915BC5B33CA}" presName="composite" presStyleCnt="0"/>
      <dgm:spPr/>
    </dgm:pt>
    <dgm:pt modelId="{BC4845A8-F398-8044-8827-7748C5F2BD51}" type="pres">
      <dgm:prSet presAssocID="{45EC6C0D-6036-4E5E-82EA-D915BC5B33CA}" presName="background" presStyleLbl="node0" presStyleIdx="0" presStyleCnt="4"/>
      <dgm:spPr/>
    </dgm:pt>
    <dgm:pt modelId="{24265024-792F-0A48-8010-FDBD663AD30A}" type="pres">
      <dgm:prSet presAssocID="{45EC6C0D-6036-4E5E-82EA-D915BC5B33CA}" presName="text" presStyleLbl="fgAcc0" presStyleIdx="0" presStyleCnt="4">
        <dgm:presLayoutVars>
          <dgm:chPref val="3"/>
        </dgm:presLayoutVars>
      </dgm:prSet>
      <dgm:spPr/>
    </dgm:pt>
    <dgm:pt modelId="{B879157A-46C2-A642-9611-F9F116DAAA41}" type="pres">
      <dgm:prSet presAssocID="{45EC6C0D-6036-4E5E-82EA-D915BC5B33CA}" presName="hierChild2" presStyleCnt="0"/>
      <dgm:spPr/>
    </dgm:pt>
    <dgm:pt modelId="{D592D7A1-5EA9-9240-8EEB-3838BF4F0064}" type="pres">
      <dgm:prSet presAssocID="{AE21D339-9A25-4730-BEBA-0BD53D55E56B}" presName="hierRoot1" presStyleCnt="0"/>
      <dgm:spPr/>
    </dgm:pt>
    <dgm:pt modelId="{B9D0B661-1C46-D846-93F9-FFF458DE29A4}" type="pres">
      <dgm:prSet presAssocID="{AE21D339-9A25-4730-BEBA-0BD53D55E56B}" presName="composite" presStyleCnt="0"/>
      <dgm:spPr/>
    </dgm:pt>
    <dgm:pt modelId="{F589576B-8605-864F-9344-01A515E6031B}" type="pres">
      <dgm:prSet presAssocID="{AE21D339-9A25-4730-BEBA-0BD53D55E56B}" presName="background" presStyleLbl="node0" presStyleIdx="1" presStyleCnt="4"/>
      <dgm:spPr/>
    </dgm:pt>
    <dgm:pt modelId="{E0AF383C-0D01-414C-9F42-DAEDE9C4957F}" type="pres">
      <dgm:prSet presAssocID="{AE21D339-9A25-4730-BEBA-0BD53D55E56B}" presName="text" presStyleLbl="fgAcc0" presStyleIdx="1" presStyleCnt="4">
        <dgm:presLayoutVars>
          <dgm:chPref val="3"/>
        </dgm:presLayoutVars>
      </dgm:prSet>
      <dgm:spPr/>
    </dgm:pt>
    <dgm:pt modelId="{FF8A654E-CDBB-EA4F-9ECD-4C36B5E61AD3}" type="pres">
      <dgm:prSet presAssocID="{AE21D339-9A25-4730-BEBA-0BD53D55E56B}" presName="hierChild2" presStyleCnt="0"/>
      <dgm:spPr/>
    </dgm:pt>
    <dgm:pt modelId="{920BC0A7-FB05-AF44-A70F-FE90A84DD48F}" type="pres">
      <dgm:prSet presAssocID="{1B130F7D-1E34-4EFE-861C-9A3E5713557B}" presName="hierRoot1" presStyleCnt="0"/>
      <dgm:spPr/>
    </dgm:pt>
    <dgm:pt modelId="{5306C5D5-FA9C-BE4D-8FB6-0D8509ADFFFE}" type="pres">
      <dgm:prSet presAssocID="{1B130F7D-1E34-4EFE-861C-9A3E5713557B}" presName="composite" presStyleCnt="0"/>
      <dgm:spPr/>
    </dgm:pt>
    <dgm:pt modelId="{58D6603D-8823-6D42-A7F7-216B17CA33D6}" type="pres">
      <dgm:prSet presAssocID="{1B130F7D-1E34-4EFE-861C-9A3E5713557B}" presName="background" presStyleLbl="node0" presStyleIdx="2" presStyleCnt="4"/>
      <dgm:spPr/>
    </dgm:pt>
    <dgm:pt modelId="{D2B92EF1-6E2C-844C-A1B3-685A078F18AB}" type="pres">
      <dgm:prSet presAssocID="{1B130F7D-1E34-4EFE-861C-9A3E5713557B}" presName="text" presStyleLbl="fgAcc0" presStyleIdx="2" presStyleCnt="4">
        <dgm:presLayoutVars>
          <dgm:chPref val="3"/>
        </dgm:presLayoutVars>
      </dgm:prSet>
      <dgm:spPr/>
    </dgm:pt>
    <dgm:pt modelId="{227DEB65-B735-D648-A84D-DE1AA3DC9A5F}" type="pres">
      <dgm:prSet presAssocID="{1B130F7D-1E34-4EFE-861C-9A3E5713557B}" presName="hierChild2" presStyleCnt="0"/>
      <dgm:spPr/>
    </dgm:pt>
    <dgm:pt modelId="{5AB8DDBC-4F54-CB43-9C2D-4DE221949564}" type="pres">
      <dgm:prSet presAssocID="{01A0D90D-2ECA-4E64-B24D-64339E2AE541}" presName="hierRoot1" presStyleCnt="0"/>
      <dgm:spPr/>
    </dgm:pt>
    <dgm:pt modelId="{A2072A37-1A79-EC4C-B776-D35D1E1430D3}" type="pres">
      <dgm:prSet presAssocID="{01A0D90D-2ECA-4E64-B24D-64339E2AE541}" presName="composite" presStyleCnt="0"/>
      <dgm:spPr/>
    </dgm:pt>
    <dgm:pt modelId="{86F6C5FE-C564-EA4B-908F-A1499C1EAD6E}" type="pres">
      <dgm:prSet presAssocID="{01A0D90D-2ECA-4E64-B24D-64339E2AE541}" presName="background" presStyleLbl="node0" presStyleIdx="3" presStyleCnt="4"/>
      <dgm:spPr/>
    </dgm:pt>
    <dgm:pt modelId="{41220ED6-5CF8-C54F-8FCF-0C21ED91E649}" type="pres">
      <dgm:prSet presAssocID="{01A0D90D-2ECA-4E64-B24D-64339E2AE541}" presName="text" presStyleLbl="fgAcc0" presStyleIdx="3" presStyleCnt="4">
        <dgm:presLayoutVars>
          <dgm:chPref val="3"/>
        </dgm:presLayoutVars>
      </dgm:prSet>
      <dgm:spPr/>
    </dgm:pt>
    <dgm:pt modelId="{87070C13-81F3-EA4F-84A8-0FBF926DE802}" type="pres">
      <dgm:prSet presAssocID="{01A0D90D-2ECA-4E64-B24D-64339E2AE541}" presName="hierChild2" presStyleCnt="0"/>
      <dgm:spPr/>
    </dgm:pt>
  </dgm:ptLst>
  <dgm:cxnLst>
    <dgm:cxn modelId="{9F4B2130-6F10-D049-9536-0D7C954F0F0B}" type="presOf" srcId="{AE21D339-9A25-4730-BEBA-0BD53D55E56B}" destId="{E0AF383C-0D01-414C-9F42-DAEDE9C4957F}" srcOrd="0" destOrd="0" presId="urn:microsoft.com/office/officeart/2005/8/layout/hierarchy1"/>
    <dgm:cxn modelId="{61934A57-BA99-4C40-B9C1-4090E2FE755E}" srcId="{727A3A99-EA84-4529-82C0-71334762C609}" destId="{1B130F7D-1E34-4EFE-861C-9A3E5713557B}" srcOrd="2" destOrd="0" parTransId="{016A21F0-CF8D-4108-9411-233A140D628A}" sibTransId="{F9AD1D7C-FDDE-4691-83C1-20F042A14B8E}"/>
    <dgm:cxn modelId="{A87E7A78-34F7-C948-831A-07E18900A011}" type="presOf" srcId="{01A0D90D-2ECA-4E64-B24D-64339E2AE541}" destId="{41220ED6-5CF8-C54F-8FCF-0C21ED91E649}" srcOrd="0" destOrd="0" presId="urn:microsoft.com/office/officeart/2005/8/layout/hierarchy1"/>
    <dgm:cxn modelId="{7EB9E1D0-F25D-4023-AB6D-C82ED324A08B}" srcId="{727A3A99-EA84-4529-82C0-71334762C609}" destId="{AE21D339-9A25-4730-BEBA-0BD53D55E56B}" srcOrd="1" destOrd="0" parTransId="{42504C59-465C-4770-8251-D9CDF28FBE68}" sibTransId="{968774E8-AE9D-4C46-B496-20D998CAD26B}"/>
    <dgm:cxn modelId="{4AD716D2-A152-4A4D-B81A-36C228E6E37B}" srcId="{727A3A99-EA84-4529-82C0-71334762C609}" destId="{01A0D90D-2ECA-4E64-B24D-64339E2AE541}" srcOrd="3" destOrd="0" parTransId="{1DA7495F-81CC-4C2E-9CAE-C7A79DF02C17}" sibTransId="{8E984DD6-E2B4-4090-B8E8-43FE15B98D5C}"/>
    <dgm:cxn modelId="{CE5F53E1-A233-CA46-A698-A47CACAEB331}" type="presOf" srcId="{1B130F7D-1E34-4EFE-861C-9A3E5713557B}" destId="{D2B92EF1-6E2C-844C-A1B3-685A078F18AB}" srcOrd="0" destOrd="0" presId="urn:microsoft.com/office/officeart/2005/8/layout/hierarchy1"/>
    <dgm:cxn modelId="{FCA0FEE6-1C08-4D47-A7C7-48C0DE7F9763}" srcId="{727A3A99-EA84-4529-82C0-71334762C609}" destId="{45EC6C0D-6036-4E5E-82EA-D915BC5B33CA}" srcOrd="0" destOrd="0" parTransId="{0B76FF67-C9DD-4E90-958F-0E1E9F85505E}" sibTransId="{6C6CD275-FB63-412B-BF7E-0682A6BDDA42}"/>
    <dgm:cxn modelId="{779C29F7-A046-964F-BDE9-8BC719492C44}" type="presOf" srcId="{45EC6C0D-6036-4E5E-82EA-D915BC5B33CA}" destId="{24265024-792F-0A48-8010-FDBD663AD30A}" srcOrd="0" destOrd="0" presId="urn:microsoft.com/office/officeart/2005/8/layout/hierarchy1"/>
    <dgm:cxn modelId="{097902FE-6736-044D-972A-C6C83D54DACF}" type="presOf" srcId="{727A3A99-EA84-4529-82C0-71334762C609}" destId="{F40107AB-30A1-2F44-A3C3-548A766BDC49}" srcOrd="0" destOrd="0" presId="urn:microsoft.com/office/officeart/2005/8/layout/hierarchy1"/>
    <dgm:cxn modelId="{BC602CE6-72DE-9249-B782-FBE03722A143}" type="presParOf" srcId="{F40107AB-30A1-2F44-A3C3-548A766BDC49}" destId="{9ED8B94E-ECBD-7E40-A478-5DAB06653F20}" srcOrd="0" destOrd="0" presId="urn:microsoft.com/office/officeart/2005/8/layout/hierarchy1"/>
    <dgm:cxn modelId="{36BD4E88-46B7-BD4F-BCB9-67D250A6A06A}" type="presParOf" srcId="{9ED8B94E-ECBD-7E40-A478-5DAB06653F20}" destId="{B12EDD7B-C558-A64A-9304-B884CD667465}" srcOrd="0" destOrd="0" presId="urn:microsoft.com/office/officeart/2005/8/layout/hierarchy1"/>
    <dgm:cxn modelId="{B1C26A7A-BE98-E146-9CC4-A823D561AB71}" type="presParOf" srcId="{B12EDD7B-C558-A64A-9304-B884CD667465}" destId="{BC4845A8-F398-8044-8827-7748C5F2BD51}" srcOrd="0" destOrd="0" presId="urn:microsoft.com/office/officeart/2005/8/layout/hierarchy1"/>
    <dgm:cxn modelId="{EA04D346-829A-154D-9DB7-EAC4C113F526}" type="presParOf" srcId="{B12EDD7B-C558-A64A-9304-B884CD667465}" destId="{24265024-792F-0A48-8010-FDBD663AD30A}" srcOrd="1" destOrd="0" presId="urn:microsoft.com/office/officeart/2005/8/layout/hierarchy1"/>
    <dgm:cxn modelId="{68D7C141-2768-1645-B41C-4FCA156D05A4}" type="presParOf" srcId="{9ED8B94E-ECBD-7E40-A478-5DAB06653F20}" destId="{B879157A-46C2-A642-9611-F9F116DAAA41}" srcOrd="1" destOrd="0" presId="urn:microsoft.com/office/officeart/2005/8/layout/hierarchy1"/>
    <dgm:cxn modelId="{5A2B1C42-0A3D-174A-A050-2457220B9F89}" type="presParOf" srcId="{F40107AB-30A1-2F44-A3C3-548A766BDC49}" destId="{D592D7A1-5EA9-9240-8EEB-3838BF4F0064}" srcOrd="1" destOrd="0" presId="urn:microsoft.com/office/officeart/2005/8/layout/hierarchy1"/>
    <dgm:cxn modelId="{E63955EF-6108-6742-A9E9-2FA1D65842E6}" type="presParOf" srcId="{D592D7A1-5EA9-9240-8EEB-3838BF4F0064}" destId="{B9D0B661-1C46-D846-93F9-FFF458DE29A4}" srcOrd="0" destOrd="0" presId="urn:microsoft.com/office/officeart/2005/8/layout/hierarchy1"/>
    <dgm:cxn modelId="{62FA2C75-DA86-FA45-9405-8F5B878F07CF}" type="presParOf" srcId="{B9D0B661-1C46-D846-93F9-FFF458DE29A4}" destId="{F589576B-8605-864F-9344-01A515E6031B}" srcOrd="0" destOrd="0" presId="urn:microsoft.com/office/officeart/2005/8/layout/hierarchy1"/>
    <dgm:cxn modelId="{60B19B4E-67CB-6C49-A725-36F0B942C6E1}" type="presParOf" srcId="{B9D0B661-1C46-D846-93F9-FFF458DE29A4}" destId="{E0AF383C-0D01-414C-9F42-DAEDE9C4957F}" srcOrd="1" destOrd="0" presId="urn:microsoft.com/office/officeart/2005/8/layout/hierarchy1"/>
    <dgm:cxn modelId="{A6666D6B-0FB1-8D4E-821D-8FB8999C16DE}" type="presParOf" srcId="{D592D7A1-5EA9-9240-8EEB-3838BF4F0064}" destId="{FF8A654E-CDBB-EA4F-9ECD-4C36B5E61AD3}" srcOrd="1" destOrd="0" presId="urn:microsoft.com/office/officeart/2005/8/layout/hierarchy1"/>
    <dgm:cxn modelId="{435D727C-F87C-B446-B49B-126E7C0A41F6}" type="presParOf" srcId="{F40107AB-30A1-2F44-A3C3-548A766BDC49}" destId="{920BC0A7-FB05-AF44-A70F-FE90A84DD48F}" srcOrd="2" destOrd="0" presId="urn:microsoft.com/office/officeart/2005/8/layout/hierarchy1"/>
    <dgm:cxn modelId="{7A6BE915-DD84-FF41-B14D-98466DE9F33A}" type="presParOf" srcId="{920BC0A7-FB05-AF44-A70F-FE90A84DD48F}" destId="{5306C5D5-FA9C-BE4D-8FB6-0D8509ADFFFE}" srcOrd="0" destOrd="0" presId="urn:microsoft.com/office/officeart/2005/8/layout/hierarchy1"/>
    <dgm:cxn modelId="{FC74AC7F-4E85-4B46-A8DA-D2F2B5D45983}" type="presParOf" srcId="{5306C5D5-FA9C-BE4D-8FB6-0D8509ADFFFE}" destId="{58D6603D-8823-6D42-A7F7-216B17CA33D6}" srcOrd="0" destOrd="0" presId="urn:microsoft.com/office/officeart/2005/8/layout/hierarchy1"/>
    <dgm:cxn modelId="{62EF0ABD-F12E-EB41-A00B-FE74F7D14AB5}" type="presParOf" srcId="{5306C5D5-FA9C-BE4D-8FB6-0D8509ADFFFE}" destId="{D2B92EF1-6E2C-844C-A1B3-685A078F18AB}" srcOrd="1" destOrd="0" presId="urn:microsoft.com/office/officeart/2005/8/layout/hierarchy1"/>
    <dgm:cxn modelId="{F902CAE6-F9E5-CD43-883E-FA0DFCF7DA8E}" type="presParOf" srcId="{920BC0A7-FB05-AF44-A70F-FE90A84DD48F}" destId="{227DEB65-B735-D648-A84D-DE1AA3DC9A5F}" srcOrd="1" destOrd="0" presId="urn:microsoft.com/office/officeart/2005/8/layout/hierarchy1"/>
    <dgm:cxn modelId="{020347C6-748A-834A-91F7-810050A8A102}" type="presParOf" srcId="{F40107AB-30A1-2F44-A3C3-548A766BDC49}" destId="{5AB8DDBC-4F54-CB43-9C2D-4DE221949564}" srcOrd="3" destOrd="0" presId="urn:microsoft.com/office/officeart/2005/8/layout/hierarchy1"/>
    <dgm:cxn modelId="{E43C7625-FFE0-F74A-9770-2C79BF0019FD}" type="presParOf" srcId="{5AB8DDBC-4F54-CB43-9C2D-4DE221949564}" destId="{A2072A37-1A79-EC4C-B776-D35D1E1430D3}" srcOrd="0" destOrd="0" presId="urn:microsoft.com/office/officeart/2005/8/layout/hierarchy1"/>
    <dgm:cxn modelId="{72909EAE-1D1F-E44D-8320-771FF0477200}" type="presParOf" srcId="{A2072A37-1A79-EC4C-B776-D35D1E1430D3}" destId="{86F6C5FE-C564-EA4B-908F-A1499C1EAD6E}" srcOrd="0" destOrd="0" presId="urn:microsoft.com/office/officeart/2005/8/layout/hierarchy1"/>
    <dgm:cxn modelId="{C6455147-E93F-D94E-A719-8D75F0CF3D23}" type="presParOf" srcId="{A2072A37-1A79-EC4C-B776-D35D1E1430D3}" destId="{41220ED6-5CF8-C54F-8FCF-0C21ED91E649}" srcOrd="1" destOrd="0" presId="urn:microsoft.com/office/officeart/2005/8/layout/hierarchy1"/>
    <dgm:cxn modelId="{A34F866B-34E2-6540-AE93-02BD709051F9}" type="presParOf" srcId="{5AB8DDBC-4F54-CB43-9C2D-4DE221949564}" destId="{87070C13-81F3-EA4F-84A8-0FBF926DE80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4845A8-F398-8044-8827-7748C5F2BD51}">
      <dsp:nvSpPr>
        <dsp:cNvPr id="0" name=""/>
        <dsp:cNvSpPr/>
      </dsp:nvSpPr>
      <dsp:spPr>
        <a:xfrm>
          <a:off x="2813" y="981488"/>
          <a:ext cx="2008810" cy="1275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65024-792F-0A48-8010-FDBD663AD30A}">
      <dsp:nvSpPr>
        <dsp:cNvPr id="0" name=""/>
        <dsp:cNvSpPr/>
      </dsp:nvSpPr>
      <dsp:spPr>
        <a:xfrm>
          <a:off x="226014" y="1193529"/>
          <a:ext cx="2008810" cy="12755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Einsatz von LLMs zur vollständigen Schema-Abbildung unstrukturierter Daten</a:t>
          </a:r>
          <a:endParaRPr lang="en-US" sz="1600" kern="1200"/>
        </a:p>
      </dsp:txBody>
      <dsp:txXfrm>
        <a:off x="263375" y="1230890"/>
        <a:ext cx="1934088" cy="1200872"/>
      </dsp:txXfrm>
    </dsp:sp>
    <dsp:sp modelId="{F589576B-8605-864F-9344-01A515E6031B}">
      <dsp:nvSpPr>
        <dsp:cNvPr id="0" name=""/>
        <dsp:cNvSpPr/>
      </dsp:nvSpPr>
      <dsp:spPr>
        <a:xfrm>
          <a:off x="2458025" y="981488"/>
          <a:ext cx="2008810" cy="1275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F383C-0D01-414C-9F42-DAEDE9C4957F}">
      <dsp:nvSpPr>
        <dsp:cNvPr id="0" name=""/>
        <dsp:cNvSpPr/>
      </dsp:nvSpPr>
      <dsp:spPr>
        <a:xfrm>
          <a:off x="2681226" y="1193529"/>
          <a:ext cx="2008810" cy="12755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Vergleich generativer und regelbasierter Extraktionsmethoden</a:t>
          </a:r>
          <a:endParaRPr lang="en-US" sz="1600" kern="1200"/>
        </a:p>
      </dsp:txBody>
      <dsp:txXfrm>
        <a:off x="2718587" y="1230890"/>
        <a:ext cx="1934088" cy="1200872"/>
      </dsp:txXfrm>
    </dsp:sp>
    <dsp:sp modelId="{58D6603D-8823-6D42-A7F7-216B17CA33D6}">
      <dsp:nvSpPr>
        <dsp:cNvPr id="0" name=""/>
        <dsp:cNvSpPr/>
      </dsp:nvSpPr>
      <dsp:spPr>
        <a:xfrm>
          <a:off x="4913238" y="981488"/>
          <a:ext cx="2008810" cy="1275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92EF1-6E2C-844C-A1B3-685A078F18AB}">
      <dsp:nvSpPr>
        <dsp:cNvPr id="0" name=""/>
        <dsp:cNvSpPr/>
      </dsp:nvSpPr>
      <dsp:spPr>
        <a:xfrm>
          <a:off x="5136439" y="1193529"/>
          <a:ext cx="2008810" cy="12755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Bewertung von LLMs hinsichtlich Strukturtreue und Datenqualität</a:t>
          </a:r>
          <a:endParaRPr lang="en-US" sz="1600" kern="1200"/>
        </a:p>
      </dsp:txBody>
      <dsp:txXfrm>
        <a:off x="5173800" y="1230890"/>
        <a:ext cx="1934088" cy="1200872"/>
      </dsp:txXfrm>
    </dsp:sp>
    <dsp:sp modelId="{86F6C5FE-C564-EA4B-908F-A1499C1EAD6E}">
      <dsp:nvSpPr>
        <dsp:cNvPr id="0" name=""/>
        <dsp:cNvSpPr/>
      </dsp:nvSpPr>
      <dsp:spPr>
        <a:xfrm>
          <a:off x="7368450" y="981488"/>
          <a:ext cx="2008810" cy="12755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220ED6-5CF8-C54F-8FCF-0C21ED91E649}">
      <dsp:nvSpPr>
        <dsp:cNvPr id="0" name=""/>
        <dsp:cNvSpPr/>
      </dsp:nvSpPr>
      <dsp:spPr>
        <a:xfrm>
          <a:off x="7591651" y="1193529"/>
          <a:ext cx="2008810" cy="12755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Erkenntnisse zur praktischen Integration in bestehende Datenpipelines</a:t>
          </a:r>
          <a:endParaRPr lang="en-US" sz="1600" kern="1200"/>
        </a:p>
      </dsp:txBody>
      <dsp:txXfrm>
        <a:off x="7629012" y="1230890"/>
        <a:ext cx="1934088" cy="1200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B8A619-5D3F-BA86-35D0-0746B55EF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8" y="802298"/>
            <a:ext cx="9405027" cy="2541431"/>
          </a:xfrm>
        </p:spPr>
        <p:txBody>
          <a:bodyPr>
            <a:noAutofit/>
          </a:bodyPr>
          <a:lstStyle/>
          <a:p>
            <a:r>
              <a:rPr lang="de-DE" sz="4400" dirty="0"/>
              <a:t>LLM-gestützte Transformation formloser Produktdaten in ein bestehendes Datenbankschema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55A984-A7DF-C11C-B488-7B685885E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79" y="3514272"/>
            <a:ext cx="8637072" cy="1624398"/>
          </a:xfrm>
        </p:spPr>
        <p:txBody>
          <a:bodyPr>
            <a:normAutofit/>
          </a:bodyPr>
          <a:lstStyle/>
          <a:p>
            <a:r>
              <a:rPr lang="de-DE" sz="1600" dirty="0"/>
              <a:t>Bachelorarbeit – Konzeptvorstellung</a:t>
            </a:r>
          </a:p>
          <a:p>
            <a:r>
              <a:rPr lang="de-DE" sz="1600" dirty="0"/>
              <a:t>Fabian </a:t>
            </a:r>
            <a:r>
              <a:rPr lang="de-DE" sz="1600" dirty="0" err="1"/>
              <a:t>lohoff</a:t>
            </a:r>
            <a:r>
              <a:rPr lang="de-DE" sz="1600" dirty="0"/>
              <a:t> (9051803)</a:t>
            </a:r>
          </a:p>
          <a:p>
            <a:r>
              <a:rPr lang="de-DE" sz="1600" dirty="0"/>
              <a:t>Wirtschaftsinformatik</a:t>
            </a:r>
          </a:p>
        </p:txBody>
      </p:sp>
    </p:spTree>
    <p:extLst>
      <p:ext uri="{BB962C8B-B14F-4D97-AF65-F5344CB8AC3E}">
        <p14:creationId xmlns:p14="http://schemas.microsoft.com/office/powerpoint/2010/main" val="234556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7BA6D7-55BD-9D99-961F-F83B2321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E2D67D-2B2A-66D2-966F-07DD78208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de-DE" dirty="0"/>
              <a:t>Problemstellung</a:t>
            </a:r>
          </a:p>
          <a:p>
            <a:r>
              <a:rPr lang="de-DE" dirty="0"/>
              <a:t>Abgrenzung / </a:t>
            </a:r>
            <a:r>
              <a:rPr lang="de-DE" dirty="0" err="1"/>
              <a:t>Scope</a:t>
            </a:r>
            <a:endParaRPr lang="de-DE" dirty="0"/>
          </a:p>
          <a:p>
            <a:r>
              <a:rPr lang="de-DE" dirty="0"/>
              <a:t>Ziel der Bachelorarbeit</a:t>
            </a:r>
          </a:p>
          <a:p>
            <a:r>
              <a:rPr lang="de-DE" dirty="0"/>
              <a:t>Forschungsfrage</a:t>
            </a:r>
          </a:p>
          <a:p>
            <a:r>
              <a:rPr lang="de-DE" dirty="0"/>
              <a:t>Systemarchitektur</a:t>
            </a:r>
          </a:p>
          <a:p>
            <a:r>
              <a:rPr lang="de-DE" dirty="0"/>
              <a:t>Methodik</a:t>
            </a:r>
          </a:p>
          <a:p>
            <a:r>
              <a:rPr lang="de-DE" dirty="0"/>
              <a:t>Evaluation &amp; KPIs</a:t>
            </a:r>
          </a:p>
          <a:p>
            <a:r>
              <a:rPr lang="de-DE" dirty="0"/>
              <a:t>Wissenschaftlicher Mehrwert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2073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B99B75-004A-344F-BA72-25AB66C8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Problemstellung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7441AE7-B90C-FCAD-CD7B-BC94193D7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dirty="0"/>
              <a:t>Produktinformationen liegen nach dem </a:t>
            </a:r>
            <a:r>
              <a:rPr lang="de-DE" dirty="0" err="1"/>
              <a:t>Crawling</a:t>
            </a:r>
            <a:r>
              <a:rPr lang="de-DE" dirty="0"/>
              <a:t> häufig als </a:t>
            </a:r>
            <a:r>
              <a:rPr lang="de-DE" b="1" dirty="0"/>
              <a:t>formlose Texte </a:t>
            </a:r>
            <a:r>
              <a:rPr lang="de-DE" dirty="0"/>
              <a:t>vor</a:t>
            </a:r>
          </a:p>
          <a:p>
            <a:r>
              <a:rPr lang="de-DE" dirty="0"/>
              <a:t>Für die Weiterverarbeitung müssen diese Daten in eine bestehende </a:t>
            </a:r>
            <a:r>
              <a:rPr lang="de-DE" b="1" dirty="0"/>
              <a:t>Datenbankstruktur</a:t>
            </a:r>
            <a:r>
              <a:rPr lang="de-DE" dirty="0"/>
              <a:t> überführt werden</a:t>
            </a:r>
          </a:p>
          <a:p>
            <a:r>
              <a:rPr lang="de-DE" dirty="0"/>
              <a:t>Regelbasierte Ansätze sind anfällig gegenüber unterschiedlichen Schreibweisen und Formaten</a:t>
            </a:r>
          </a:p>
          <a:p>
            <a:r>
              <a:rPr lang="de-DE" b="1" dirty="0"/>
              <a:t>Large Language Models (LLMs)</a:t>
            </a:r>
            <a:r>
              <a:rPr lang="de-DE" dirty="0"/>
              <a:t> ermöglichen eine semantische Interpretation der Daten</a:t>
            </a:r>
          </a:p>
          <a:p>
            <a:pPr marL="0" indent="0">
              <a:buNone/>
            </a:pPr>
            <a:r>
              <a:rPr lang="de-DE" sz="2600" b="1" dirty="0"/>
              <a:t>Kernproblem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/>
              <a:t>Wie können unstrukturierte Daten zuverlässig und schema-konform transformiert werden?</a:t>
            </a:r>
          </a:p>
        </p:txBody>
      </p:sp>
    </p:spTree>
    <p:extLst>
      <p:ext uri="{BB962C8B-B14F-4D97-AF65-F5344CB8AC3E}">
        <p14:creationId xmlns:p14="http://schemas.microsoft.com/office/powerpoint/2010/main" val="248485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2951C7-024F-02A6-7A7E-C27BD5A2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Abgrenzung / </a:t>
            </a:r>
            <a:r>
              <a:rPr lang="de-DE" dirty="0" err="1"/>
              <a:t>scope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F1B3C0-5CF0-F898-3E2E-84E02B11C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Nicht Bestandteil:</a:t>
            </a:r>
          </a:p>
          <a:p>
            <a:r>
              <a:rPr lang="de-DE" dirty="0"/>
              <a:t>Entwicklung oder Optimierung des Crawlers</a:t>
            </a:r>
          </a:p>
          <a:p>
            <a:r>
              <a:rPr lang="de-DE" dirty="0"/>
              <a:t>Datensammlung oder Web-</a:t>
            </a:r>
            <a:r>
              <a:rPr lang="de-DE" dirty="0" err="1"/>
              <a:t>Scraping</a:t>
            </a:r>
            <a:endParaRPr lang="de-DE" dirty="0"/>
          </a:p>
          <a:p>
            <a:pPr marL="0" indent="0">
              <a:buNone/>
            </a:pPr>
            <a:r>
              <a:rPr lang="de-DE" b="1" dirty="0"/>
              <a:t>Bestandteil der Arbeit:</a:t>
            </a:r>
          </a:p>
          <a:p>
            <a:r>
              <a:rPr lang="de-DE" dirty="0"/>
              <a:t>Mapping vorhandener Rohdaten auf das DB-Schema</a:t>
            </a:r>
          </a:p>
          <a:p>
            <a:r>
              <a:rPr lang="de-DE" dirty="0"/>
              <a:t>Entwicklung eines LLM-basierten </a:t>
            </a:r>
            <a:r>
              <a:rPr lang="de-DE" dirty="0" err="1"/>
              <a:t>Gesamtmappings</a:t>
            </a:r>
            <a:endParaRPr lang="de-DE" dirty="0"/>
          </a:p>
          <a:p>
            <a:r>
              <a:rPr lang="de-DE" dirty="0"/>
              <a:t>Entwicklung eines regelbasierten Ansatzes für ein einzelnes Datenfeld</a:t>
            </a:r>
          </a:p>
          <a:p>
            <a:r>
              <a:rPr lang="de-DE" dirty="0"/>
              <a:t>Vergleich beider Ansätze anhand von KPIs</a:t>
            </a:r>
          </a:p>
        </p:txBody>
      </p:sp>
    </p:spTree>
    <p:extLst>
      <p:ext uri="{BB962C8B-B14F-4D97-AF65-F5344CB8AC3E}">
        <p14:creationId xmlns:p14="http://schemas.microsoft.com/office/powerpoint/2010/main" val="346112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69B66-188A-0682-5E63-BA8E01941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 der Bachelorarbeit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A343C1-6278-0B8B-5589-D0AAD1923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dirty="0"/>
              <a:t>Entwicklung eines Systems zur: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LLM-basierten Umwandlung </a:t>
            </a:r>
            <a:r>
              <a:rPr lang="de-DE" dirty="0"/>
              <a:t>formloser Produktdaten in die komplette bestehende Datenbankstruktur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Implementierung eines </a:t>
            </a:r>
            <a:r>
              <a:rPr lang="de-DE" b="1" dirty="0"/>
              <a:t>regelbasierten Ansatzes </a:t>
            </a:r>
            <a:r>
              <a:rPr lang="de-DE" dirty="0"/>
              <a:t>für ein ausgewähltes Datenfeld</a:t>
            </a:r>
          </a:p>
          <a:p>
            <a:pPr marL="457200" indent="-457200">
              <a:buFont typeface="+mj-lt"/>
              <a:buAutoNum type="arabicPeriod"/>
            </a:pPr>
            <a:r>
              <a:rPr lang="de-DE" b="1" dirty="0"/>
              <a:t>Quantitativen Vergleich </a:t>
            </a:r>
            <a:r>
              <a:rPr lang="de-DE" dirty="0"/>
              <a:t>der Ergebnisse mittels definierter KPIs</a:t>
            </a:r>
          </a:p>
        </p:txBody>
      </p:sp>
    </p:spTree>
    <p:extLst>
      <p:ext uri="{BB962C8B-B14F-4D97-AF65-F5344CB8AC3E}">
        <p14:creationId xmlns:p14="http://schemas.microsoft.com/office/powerpoint/2010/main" val="3702445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A8CD-B8F6-59B7-6801-4A161DA8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Forschungsfrage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36B42B-C70F-B3D4-BC0F-CF8D221AC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Wie gut kann ein LLM-basierter Ansatz formlosen Produktdaten vollständig auf eine bestehende Datenbankstruktur abbilden, und wie schneidet er im Vergleich zu einem regelbasierten Ansatz für ein einzelnes Datenfeld ab?</a:t>
            </a:r>
          </a:p>
          <a:p>
            <a:pPr marL="0" indent="0">
              <a:buNone/>
            </a:pPr>
            <a:r>
              <a:rPr lang="de-DE" b="1" dirty="0"/>
              <a:t>Unterfragen</a:t>
            </a:r>
            <a:r>
              <a:rPr lang="de-DE" dirty="0"/>
              <a:t>:</a:t>
            </a:r>
          </a:p>
          <a:p>
            <a:r>
              <a:rPr lang="de-DE" dirty="0"/>
              <a:t>Qualität der strukturierten Datenüberführung</a:t>
            </a:r>
          </a:p>
          <a:p>
            <a:r>
              <a:rPr lang="de-DE" dirty="0"/>
              <a:t>Schema-Konformität der LLM-Ausgabe</a:t>
            </a:r>
          </a:p>
          <a:p>
            <a:r>
              <a:rPr lang="de-DE" dirty="0"/>
              <a:t>Vergleich der Extraktionsqualität für das Referenz-Datenfeld</a:t>
            </a:r>
          </a:p>
        </p:txBody>
      </p:sp>
    </p:spTree>
    <p:extLst>
      <p:ext uri="{BB962C8B-B14F-4D97-AF65-F5344CB8AC3E}">
        <p14:creationId xmlns:p14="http://schemas.microsoft.com/office/powerpoint/2010/main" val="1366699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B41C33-BBF7-4A1B-26A5-73285BBF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Systemarchitektur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0F974A0-F1D6-BE4B-4438-06CA9EF2D06F}"/>
              </a:ext>
            </a:extLst>
          </p:cNvPr>
          <p:cNvSpPr txBox="1"/>
          <p:nvPr/>
        </p:nvSpPr>
        <p:spPr>
          <a:xfrm>
            <a:off x="4476768" y="3428999"/>
            <a:ext cx="45640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/>
              <a:t>Transformation (Beitrag der Arbeit):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dirty="0"/>
              <a:t>LLM basiertes Mapping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000" dirty="0"/>
              <a:t>Regelbasierter Ansatz (Baseline)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32C31C9-46E1-F4C0-F6EC-E50BFCD874CA}"/>
              </a:ext>
            </a:extLst>
          </p:cNvPr>
          <p:cNvSpPr txBox="1"/>
          <p:nvPr/>
        </p:nvSpPr>
        <p:spPr>
          <a:xfrm>
            <a:off x="9272789" y="3428999"/>
            <a:ext cx="263726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/>
              <a:t>Output</a:t>
            </a:r>
            <a:r>
              <a:rPr lang="de-DE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Schema-konforme </a:t>
            </a:r>
            <a:br>
              <a:rPr lang="de-DE" sz="2000" dirty="0"/>
            </a:br>
            <a:r>
              <a:rPr lang="de-DE" sz="2000" dirty="0"/>
              <a:t>Datenbankeinträge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Evaluationsdaten für </a:t>
            </a:r>
            <a:br>
              <a:rPr lang="de-DE" sz="2000" dirty="0"/>
            </a:br>
            <a:r>
              <a:rPr lang="de-DE" sz="2000" dirty="0"/>
              <a:t>KPI-Vergleich</a:t>
            </a:r>
          </a:p>
        </p:txBody>
      </p:sp>
      <p:sp>
        <p:nvSpPr>
          <p:cNvPr id="18" name="Pfeil nach rechts 17">
            <a:extLst>
              <a:ext uri="{FF2B5EF4-FFF2-40B4-BE49-F238E27FC236}">
                <a16:creationId xmlns:a16="http://schemas.microsoft.com/office/drawing/2014/main" id="{83B0EFF1-0B96-EAD9-F982-521B7BB5B034}"/>
              </a:ext>
            </a:extLst>
          </p:cNvPr>
          <p:cNvSpPr/>
          <p:nvPr/>
        </p:nvSpPr>
        <p:spPr>
          <a:xfrm>
            <a:off x="498355" y="2318197"/>
            <a:ext cx="11195290" cy="1110802"/>
          </a:xfrm>
          <a:prstGeom prst="rightArrow">
            <a:avLst/>
          </a:prstGeom>
          <a:solidFill>
            <a:srgbClr val="B71D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Datenfluss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E16280A-29EF-8E40-D0AE-1D9CA26952B7}"/>
              </a:ext>
            </a:extLst>
          </p:cNvPr>
          <p:cNvSpPr txBox="1"/>
          <p:nvPr/>
        </p:nvSpPr>
        <p:spPr>
          <a:xfrm>
            <a:off x="498355" y="3428999"/>
            <a:ext cx="404848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/>
              <a:t>Input</a:t>
            </a:r>
            <a:r>
              <a:rPr lang="de-DE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Bereits vorhandene Rohdaten </a:t>
            </a:r>
            <a:br>
              <a:rPr lang="de-DE" sz="2000" dirty="0"/>
            </a:br>
            <a:r>
              <a:rPr lang="de-DE" sz="2000" dirty="0"/>
              <a:t>aus bestehender </a:t>
            </a:r>
            <a:r>
              <a:rPr lang="de-DE" sz="2000" dirty="0" err="1"/>
              <a:t>Crawling</a:t>
            </a:r>
            <a:r>
              <a:rPr lang="de-DE" sz="2000" dirty="0"/>
              <a:t>-Pipeline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Formlose Produktinformationen</a:t>
            </a:r>
            <a:br>
              <a:rPr lang="de-DE" sz="2000" dirty="0"/>
            </a:b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643378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B28723-7639-9A4D-FE89-F17899900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CA42731-25BC-35FD-3F29-B9D9277F0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Vorgehen:</a:t>
            </a:r>
          </a:p>
          <a:p>
            <a:r>
              <a:rPr lang="de-DE" dirty="0"/>
              <a:t>Auswahl eines Referenzdatenfelds</a:t>
            </a:r>
          </a:p>
          <a:p>
            <a:r>
              <a:rPr lang="de-DE" dirty="0"/>
              <a:t>Implementierung des LLM-basierten </a:t>
            </a:r>
            <a:r>
              <a:rPr lang="de-DE" dirty="0" err="1"/>
              <a:t>Gesamtmappings</a:t>
            </a:r>
            <a:endParaRPr lang="de-DE" dirty="0"/>
          </a:p>
          <a:p>
            <a:r>
              <a:rPr lang="de-DE" dirty="0"/>
              <a:t>Entwicklung eines regelbasierten Ansatzes für das Referenzfeld</a:t>
            </a:r>
          </a:p>
          <a:p>
            <a:r>
              <a:rPr lang="de-DE" dirty="0"/>
              <a:t>Erstellung eines Ground-Truth-Datensatzes</a:t>
            </a:r>
          </a:p>
          <a:p>
            <a:r>
              <a:rPr lang="de-DE" dirty="0"/>
              <a:t>Vergleich anhand definierter KPIs</a:t>
            </a:r>
          </a:p>
        </p:txBody>
      </p:sp>
    </p:spTree>
    <p:extLst>
      <p:ext uri="{BB962C8B-B14F-4D97-AF65-F5344CB8AC3E}">
        <p14:creationId xmlns:p14="http://schemas.microsoft.com/office/powerpoint/2010/main" val="272464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487F1-CAFF-6AD0-BCAA-18945D7C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&amp; KPIs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141526-D2DC-E540-C2F0-1C921B96F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5065131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LLM-</a:t>
            </a:r>
            <a:r>
              <a:rPr lang="de-DE" b="1" dirty="0" err="1"/>
              <a:t>Gesamtmapping</a:t>
            </a:r>
            <a:r>
              <a:rPr lang="de-DE" b="1" dirty="0"/>
              <a:t>:</a:t>
            </a:r>
          </a:p>
          <a:p>
            <a:r>
              <a:rPr lang="de-DE" dirty="0"/>
              <a:t>Schema Compliance Rate</a:t>
            </a:r>
          </a:p>
          <a:p>
            <a:r>
              <a:rPr lang="de-DE" dirty="0"/>
              <a:t>Coverage der Datenbankfelder</a:t>
            </a:r>
          </a:p>
          <a:p>
            <a:r>
              <a:rPr lang="de-DE" dirty="0"/>
              <a:t>Konsistenz der erzeugten Struktur</a:t>
            </a:r>
          </a:p>
          <a:p>
            <a:pPr marL="0" indent="0">
              <a:buNone/>
            </a:pPr>
            <a:r>
              <a:rPr lang="de-DE" b="1" dirty="0"/>
              <a:t>Vergleichsfeld (LLM vs. Regelbasiert)</a:t>
            </a:r>
          </a:p>
          <a:p>
            <a:r>
              <a:rPr lang="de-DE" dirty="0"/>
              <a:t>Exact Match Rate</a:t>
            </a:r>
          </a:p>
          <a:p>
            <a:r>
              <a:rPr lang="de-DE" dirty="0"/>
              <a:t>Precision / Recall / F1</a:t>
            </a:r>
          </a:p>
          <a:p>
            <a:r>
              <a:rPr lang="de-DE" dirty="0"/>
              <a:t>Normalisierungsgenauigkeit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97AF6DC-A412-6B5C-5609-2E82A7B51ACE}"/>
              </a:ext>
            </a:extLst>
          </p:cNvPr>
          <p:cNvSpPr txBox="1"/>
          <p:nvPr/>
        </p:nvSpPr>
        <p:spPr>
          <a:xfrm>
            <a:off x="8255357" y="1852093"/>
            <a:ext cx="2587953" cy="1576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de-DE" sz="2000" b="1" dirty="0"/>
              <a:t>Effizienz</a:t>
            </a:r>
            <a:r>
              <a:rPr lang="de-DE" sz="2000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Laufzeit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Verarbeitungskosten</a:t>
            </a:r>
          </a:p>
        </p:txBody>
      </p:sp>
    </p:spTree>
    <p:extLst>
      <p:ext uri="{BB962C8B-B14F-4D97-AF65-F5344CB8AC3E}">
        <p14:creationId xmlns:p14="http://schemas.microsoft.com/office/powerpoint/2010/main" val="2836705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F590E-22A3-4909-2838-0D658154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de-DE" dirty="0"/>
              <a:t>Wissenschaftlicher Mehrwert</a:t>
            </a:r>
          </a:p>
        </p:txBody>
      </p:sp>
      <p:graphicFrame>
        <p:nvGraphicFramePr>
          <p:cNvPr id="6" name="Inhaltsplatzhalter 3">
            <a:extLst>
              <a:ext uri="{FF2B5EF4-FFF2-40B4-BE49-F238E27FC236}">
                <a16:creationId xmlns:a16="http://schemas.microsoft.com/office/drawing/2014/main" id="{E7023DC3-00C9-8D5C-AF42-4671CF106D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1579" y="2015732"/>
          <a:ext cx="960327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986868"/>
      </p:ext>
    </p:extLst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Katalog</Template>
  <TotalTime>0</TotalTime>
  <Words>335</Words>
  <Application>Microsoft Macintosh PowerPoint</Application>
  <PresentationFormat>Breitbild</PresentationFormat>
  <Paragraphs>75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Katalog</vt:lpstr>
      <vt:lpstr>LLM-gestützte Transformation formloser Produktdaten in ein bestehendes Datenbankschema</vt:lpstr>
      <vt:lpstr>Inhalt</vt:lpstr>
      <vt:lpstr>Problemstellung</vt:lpstr>
      <vt:lpstr>Abgrenzung / scope</vt:lpstr>
      <vt:lpstr>Ziel der Bachelorarbeit</vt:lpstr>
      <vt:lpstr>Forschungsfrage</vt:lpstr>
      <vt:lpstr>Systemarchitektur</vt:lpstr>
      <vt:lpstr>Methodik</vt:lpstr>
      <vt:lpstr>Evaluation &amp; KPIs</vt:lpstr>
      <vt:lpstr>Wissenschaftlicher Mehrwert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Fabian Lohoff</dc:creator>
  <cp:lastModifiedBy>Fabian Lohoff</cp:lastModifiedBy>
  <cp:revision>4</cp:revision>
  <dcterms:created xsi:type="dcterms:W3CDTF">2026-02-16T07:09:49Z</dcterms:created>
  <dcterms:modified xsi:type="dcterms:W3CDTF">2026-02-20T09:19:49Z</dcterms:modified>
</cp:coreProperties>
</file>